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Nuni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unito-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Nunito-italic.fntdata"/><Relationship Id="rId6" Type="http://schemas.openxmlformats.org/officeDocument/2006/relationships/notesMaster" Target="notesMasters/notesMaster1.xml"/><Relationship Id="rId18"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4a3072219_2_1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4a3072219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4a3072219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4a3072219_2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4a3072219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4a3072219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4a3072219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4a3072219_2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4a3072219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4a3072219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4a3072219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4a3072219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4a3072219_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4a3072219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4a3072219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4a3072219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4a6db2f5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4a6db2f5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4a3072219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4a3072219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54" name="Shape 54"/>
        <p:cNvGrpSpPr/>
        <p:nvPr/>
      </p:nvGrpSpPr>
      <p:grpSpPr>
        <a:xfrm>
          <a:off x="0" y="0"/>
          <a:ext cx="0" cy="0"/>
          <a:chOff x="0" y="0"/>
          <a:chExt cx="0" cy="0"/>
        </a:xfrm>
      </p:grpSpPr>
      <p:sp>
        <p:nvSpPr>
          <p:cNvPr id="55" name="Google Shape;55;p1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14"/>
          <p:cNvGrpSpPr/>
          <p:nvPr/>
        </p:nvGrpSpPr>
        <p:grpSpPr>
          <a:xfrm>
            <a:off x="255200" y="592"/>
            <a:ext cx="2250363" cy="1044300"/>
            <a:chOff x="255200" y="592"/>
            <a:chExt cx="2250363" cy="1044300"/>
          </a:xfrm>
        </p:grpSpPr>
        <p:sp>
          <p:nvSpPr>
            <p:cNvPr id="60" name="Google Shape;60;p1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905395" y="592"/>
            <a:ext cx="2250363" cy="1044300"/>
            <a:chOff x="905395" y="592"/>
            <a:chExt cx="2250363" cy="1044300"/>
          </a:xfrm>
        </p:grpSpPr>
        <p:sp>
          <p:nvSpPr>
            <p:cNvPr id="64" name="Google Shape;64;p1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14"/>
          <p:cNvGrpSpPr/>
          <p:nvPr/>
        </p:nvGrpSpPr>
        <p:grpSpPr>
          <a:xfrm>
            <a:off x="7057468" y="5088"/>
            <a:ext cx="1851282" cy="752108"/>
            <a:chOff x="6917201" y="0"/>
            <a:chExt cx="2227777" cy="863400"/>
          </a:xfrm>
        </p:grpSpPr>
        <p:sp>
          <p:nvSpPr>
            <p:cNvPr id="68" name="Google Shape;68;p1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6553032" y="4217852"/>
            <a:ext cx="2389068" cy="925737"/>
            <a:chOff x="6917201" y="0"/>
            <a:chExt cx="2227777" cy="863400"/>
          </a:xfrm>
        </p:grpSpPr>
        <p:sp>
          <p:nvSpPr>
            <p:cNvPr id="72" name="Google Shape;72;p1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199149" y="4055652"/>
            <a:ext cx="2795414" cy="1083308"/>
            <a:chOff x="6917201" y="0"/>
            <a:chExt cx="2227777" cy="863400"/>
          </a:xfrm>
        </p:grpSpPr>
        <p:sp>
          <p:nvSpPr>
            <p:cNvPr id="76" name="Google Shape;76;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80" name="Google Shape;80;p1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81" name="Google Shape;81;p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82" name="Shape 82"/>
        <p:cNvGrpSpPr/>
        <p:nvPr/>
      </p:nvGrpSpPr>
      <p:grpSpPr>
        <a:xfrm>
          <a:off x="0" y="0"/>
          <a:ext cx="0" cy="0"/>
          <a:chOff x="0" y="0"/>
          <a:chExt cx="0" cy="0"/>
        </a:xfrm>
      </p:grpSpPr>
      <p:sp>
        <p:nvSpPr>
          <p:cNvPr id="83" name="Google Shape;83;p15"/>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15"/>
          <p:cNvGrpSpPr/>
          <p:nvPr/>
        </p:nvGrpSpPr>
        <p:grpSpPr>
          <a:xfrm>
            <a:off x="5594191" y="3961115"/>
            <a:ext cx="2910145" cy="1182340"/>
            <a:chOff x="6917201" y="0"/>
            <a:chExt cx="2227777" cy="863400"/>
          </a:xfrm>
        </p:grpSpPr>
        <p:sp>
          <p:nvSpPr>
            <p:cNvPr id="85" name="Google Shape;85;p1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 name="Google Shape;88;p15"/>
          <p:cNvGrpSpPr/>
          <p:nvPr/>
        </p:nvGrpSpPr>
        <p:grpSpPr>
          <a:xfrm>
            <a:off x="199149" y="2"/>
            <a:ext cx="2795414" cy="1083308"/>
            <a:chOff x="6917201" y="0"/>
            <a:chExt cx="2227777" cy="863400"/>
          </a:xfrm>
        </p:grpSpPr>
        <p:sp>
          <p:nvSpPr>
            <p:cNvPr id="89" name="Google Shape;89;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5"/>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93" name="Google Shape;93;p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4" name="Shape 94"/>
        <p:cNvGrpSpPr/>
        <p:nvPr/>
      </p:nvGrpSpPr>
      <p:grpSpPr>
        <a:xfrm>
          <a:off x="0" y="0"/>
          <a:ext cx="0" cy="0"/>
          <a:chOff x="0" y="0"/>
          <a:chExt cx="0" cy="0"/>
        </a:xfrm>
      </p:grpSpPr>
      <p:sp>
        <p:nvSpPr>
          <p:cNvPr id="95" name="Google Shape;95;p1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9" name="Google Shape;99;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1" name="Shape 101"/>
        <p:cNvGrpSpPr/>
        <p:nvPr/>
      </p:nvGrpSpPr>
      <p:grpSpPr>
        <a:xfrm>
          <a:off x="0" y="0"/>
          <a:ext cx="0" cy="0"/>
          <a:chOff x="0" y="0"/>
          <a:chExt cx="0" cy="0"/>
        </a:xfrm>
      </p:grpSpPr>
      <p:sp>
        <p:nvSpPr>
          <p:cNvPr id="102" name="Google Shape;102;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6" name="Google Shape;106;p17"/>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7" name="Google Shape;107;p17"/>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8" name="Google Shape;108;p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9" name="Shape 109"/>
        <p:cNvGrpSpPr/>
        <p:nvPr/>
      </p:nvGrpSpPr>
      <p:grpSpPr>
        <a:xfrm>
          <a:off x="0" y="0"/>
          <a:ext cx="0" cy="0"/>
          <a:chOff x="0" y="0"/>
          <a:chExt cx="0" cy="0"/>
        </a:xfrm>
      </p:grpSpPr>
      <p:sp>
        <p:nvSpPr>
          <p:cNvPr id="110" name="Google Shape;110;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4" name="Google Shape;114;p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15" name="Shape 115"/>
        <p:cNvGrpSpPr/>
        <p:nvPr/>
      </p:nvGrpSpPr>
      <p:grpSpPr>
        <a:xfrm>
          <a:off x="0" y="0"/>
          <a:ext cx="0" cy="0"/>
          <a:chOff x="0" y="0"/>
          <a:chExt cx="0" cy="0"/>
        </a:xfrm>
      </p:grpSpPr>
      <p:sp>
        <p:nvSpPr>
          <p:cNvPr id="116" name="Google Shape;116;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0" name="Google Shape;120;p19"/>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1" name="Google Shape;121;p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22" name="Shape 122"/>
        <p:cNvGrpSpPr/>
        <p:nvPr/>
      </p:nvGrpSpPr>
      <p:grpSpPr>
        <a:xfrm>
          <a:off x="0" y="0"/>
          <a:ext cx="0" cy="0"/>
          <a:chOff x="0" y="0"/>
          <a:chExt cx="0" cy="0"/>
        </a:xfrm>
      </p:grpSpPr>
      <p:sp>
        <p:nvSpPr>
          <p:cNvPr id="123" name="Google Shape;123;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20"/>
          <p:cNvGrpSpPr/>
          <p:nvPr/>
        </p:nvGrpSpPr>
        <p:grpSpPr>
          <a:xfrm>
            <a:off x="255991" y="-118"/>
            <a:ext cx="2251347" cy="1043408"/>
            <a:chOff x="3961956" y="4383950"/>
            <a:chExt cx="1160548" cy="548700"/>
          </a:xfrm>
        </p:grpSpPr>
        <p:sp>
          <p:nvSpPr>
            <p:cNvPr id="126" name="Google Shape;126;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0"/>
          <p:cNvGrpSpPr/>
          <p:nvPr/>
        </p:nvGrpSpPr>
        <p:grpSpPr>
          <a:xfrm>
            <a:off x="34934" y="4522125"/>
            <a:ext cx="1593306" cy="617072"/>
            <a:chOff x="6917201" y="0"/>
            <a:chExt cx="2227777" cy="863400"/>
          </a:xfrm>
        </p:grpSpPr>
        <p:sp>
          <p:nvSpPr>
            <p:cNvPr id="131" name="Google Shape;131;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20"/>
          <p:cNvGrpSpPr/>
          <p:nvPr/>
        </p:nvGrpSpPr>
        <p:grpSpPr>
          <a:xfrm>
            <a:off x="5886353" y="1243"/>
            <a:ext cx="3257455" cy="1261514"/>
            <a:chOff x="6917201" y="0"/>
            <a:chExt cx="2227777" cy="863400"/>
          </a:xfrm>
        </p:grpSpPr>
        <p:sp>
          <p:nvSpPr>
            <p:cNvPr id="135" name="Google Shape;135;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20"/>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139" name="Google Shape;139;p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40" name="Shape 140"/>
        <p:cNvGrpSpPr/>
        <p:nvPr/>
      </p:nvGrpSpPr>
      <p:grpSpPr>
        <a:xfrm>
          <a:off x="0" y="0"/>
          <a:ext cx="0" cy="0"/>
          <a:chOff x="0" y="0"/>
          <a:chExt cx="0" cy="0"/>
        </a:xfrm>
      </p:grpSpPr>
      <p:sp>
        <p:nvSpPr>
          <p:cNvPr id="141" name="Google Shape;141;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45" name="Google Shape;145;p21"/>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46" name="Google Shape;146;p21"/>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7" name="Google Shape;147;p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48" name="Shape 148"/>
        <p:cNvGrpSpPr/>
        <p:nvPr/>
      </p:nvGrpSpPr>
      <p:grpSpPr>
        <a:xfrm>
          <a:off x="0" y="0"/>
          <a:ext cx="0" cy="0"/>
          <a:chOff x="0" y="0"/>
          <a:chExt cx="0" cy="0"/>
        </a:xfrm>
      </p:grpSpPr>
      <p:sp>
        <p:nvSpPr>
          <p:cNvPr id="149" name="Google Shape;149;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2"/>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53" name="Google Shape;153;p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54" name="Shape 154"/>
        <p:cNvGrpSpPr/>
        <p:nvPr/>
      </p:nvGrpSpPr>
      <p:grpSpPr>
        <a:xfrm>
          <a:off x="0" y="0"/>
          <a:ext cx="0" cy="0"/>
          <a:chOff x="0" y="0"/>
          <a:chExt cx="0" cy="0"/>
        </a:xfrm>
      </p:grpSpPr>
      <p:sp>
        <p:nvSpPr>
          <p:cNvPr id="155" name="Google Shape;155;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23"/>
          <p:cNvGrpSpPr/>
          <p:nvPr/>
        </p:nvGrpSpPr>
        <p:grpSpPr>
          <a:xfrm>
            <a:off x="5959222" y="4119576"/>
            <a:ext cx="2520952" cy="1024165"/>
            <a:chOff x="6917201" y="0"/>
            <a:chExt cx="2227777" cy="863400"/>
          </a:xfrm>
        </p:grpSpPr>
        <p:sp>
          <p:nvSpPr>
            <p:cNvPr id="157" name="Google Shape;157;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23"/>
          <p:cNvGrpSpPr/>
          <p:nvPr/>
        </p:nvGrpSpPr>
        <p:grpSpPr>
          <a:xfrm>
            <a:off x="199149" y="2"/>
            <a:ext cx="2795414" cy="1083308"/>
            <a:chOff x="6917201" y="0"/>
            <a:chExt cx="2227777" cy="863400"/>
          </a:xfrm>
        </p:grpSpPr>
        <p:sp>
          <p:nvSpPr>
            <p:cNvPr id="161" name="Google Shape;161;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23"/>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65" name="Google Shape;165;p23"/>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66" name="Google Shape;166;p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
        <p:nvSpPr>
          <p:cNvPr id="168" name="Google Shape;168;p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52" name="Google Shape;52;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53" name="Google Shape;53;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ctrTitle"/>
          </p:nvPr>
        </p:nvSpPr>
        <p:spPr>
          <a:xfrm>
            <a:off x="1636453" y="965583"/>
            <a:ext cx="5361300" cy="144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4000">
                <a:solidFill>
                  <a:srgbClr val="000000"/>
                </a:solidFill>
                <a:latin typeface="Times New Roman"/>
                <a:ea typeface="Times New Roman"/>
                <a:cs typeface="Times New Roman"/>
                <a:sym typeface="Times New Roman"/>
              </a:rPr>
              <a:t>Excelerate Learning Path Analysis</a:t>
            </a:r>
            <a:endParaRPr b="1" sz="4000">
              <a:solidFill>
                <a:srgbClr val="000000"/>
              </a:solidFill>
              <a:latin typeface="Times New Roman"/>
              <a:ea typeface="Times New Roman"/>
              <a:cs typeface="Times New Roman"/>
              <a:sym typeface="Times New Roman"/>
            </a:endParaRPr>
          </a:p>
        </p:txBody>
      </p:sp>
      <p:sp>
        <p:nvSpPr>
          <p:cNvPr id="174" name="Google Shape;174;p25"/>
          <p:cNvSpPr txBox="1"/>
          <p:nvPr>
            <p:ph idx="1" type="subTitle"/>
          </p:nvPr>
        </p:nvSpPr>
        <p:spPr>
          <a:xfrm>
            <a:off x="1656300" y="2413676"/>
            <a:ext cx="7052400" cy="10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solidFill>
                  <a:srgbClr val="000000"/>
                </a:solidFill>
                <a:latin typeface="Times"/>
                <a:ea typeface="Times"/>
                <a:cs typeface="Times"/>
                <a:sym typeface="Times"/>
              </a:rPr>
              <a:t>Analyzing learner data to generate insights for Excellerate strategy</a:t>
            </a:r>
            <a:endParaRPr i="1" sz="2400">
              <a:solidFill>
                <a:srgbClr val="000000"/>
              </a:solidFill>
              <a:latin typeface="Times"/>
              <a:ea typeface="Times"/>
              <a:cs typeface="Times"/>
              <a:sym typeface="Times"/>
            </a:endParaRPr>
          </a:p>
        </p:txBody>
      </p:sp>
      <p:sp>
        <p:nvSpPr>
          <p:cNvPr id="175" name="Google Shape;175;p25"/>
          <p:cNvSpPr txBox="1"/>
          <p:nvPr/>
        </p:nvSpPr>
        <p:spPr>
          <a:xfrm>
            <a:off x="1656300" y="3328450"/>
            <a:ext cx="2915700" cy="5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Times New Roman"/>
                <a:ea typeface="Times New Roman"/>
                <a:cs typeface="Times New Roman"/>
                <a:sym typeface="Times New Roman"/>
              </a:rPr>
              <a:t>Date: 5 Jan 2026</a:t>
            </a:r>
            <a:endParaRPr b="1" sz="2000">
              <a:latin typeface="Times New Roman"/>
              <a:ea typeface="Times New Roman"/>
              <a:cs typeface="Times New Roman"/>
              <a:sym typeface="Times New Roman"/>
            </a:endParaRPr>
          </a:p>
          <a:p>
            <a:pPr indent="0" lvl="0" marL="0" rtl="0" algn="l">
              <a:spcBef>
                <a:spcPts val="0"/>
              </a:spcBef>
              <a:spcAft>
                <a:spcPts val="0"/>
              </a:spcAft>
              <a:buNone/>
            </a:pPr>
            <a:r>
              <a:t/>
            </a:r>
            <a:endParaRPr b="1" sz="2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nvSpPr>
        <p:spPr>
          <a:xfrm>
            <a:off x="418050" y="577050"/>
            <a:ext cx="8016900" cy="35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latin typeface="Times New Roman"/>
                <a:ea typeface="Times New Roman"/>
                <a:cs typeface="Times New Roman"/>
                <a:sym typeface="Times New Roman"/>
              </a:rPr>
              <a:t>Problem Statement:</a:t>
            </a:r>
            <a:endParaRPr b="1" sz="4000">
              <a:latin typeface="Times New Roman"/>
              <a:ea typeface="Times New Roman"/>
              <a:cs typeface="Times New Roman"/>
              <a:sym typeface="Times New Roman"/>
            </a:endParaRPr>
          </a:p>
          <a:p>
            <a:pPr indent="0" lvl="0" marL="0" rtl="0" algn="l">
              <a:spcBef>
                <a:spcPts val="0"/>
              </a:spcBef>
              <a:spcAft>
                <a:spcPts val="0"/>
              </a:spcAft>
              <a:buNone/>
            </a:pPr>
            <a:r>
              <a:t/>
            </a:r>
            <a:endParaRPr sz="1300">
              <a:latin typeface="Times New Roman"/>
              <a:ea typeface="Times New Roman"/>
              <a:cs typeface="Times New Roman"/>
              <a:sym typeface="Times New Roman"/>
            </a:endParaRPr>
          </a:p>
          <a:p>
            <a:pPr indent="-368300" lvl="0" marL="457200" rtl="0" algn="l">
              <a:lnSpc>
                <a:spcPct val="115000"/>
              </a:lnSpc>
              <a:spcBef>
                <a:spcPts val="1200"/>
              </a:spcBef>
              <a:spcAft>
                <a:spcPts val="0"/>
              </a:spcAft>
              <a:buSzPts val="2200"/>
              <a:buChar char="●"/>
            </a:pPr>
            <a:r>
              <a:rPr lang="en" sz="2200"/>
              <a:t>How do learners actually progress through the Excelerate funnel?</a:t>
            </a:r>
            <a:br>
              <a:rPr lang="en" sz="2200"/>
            </a:br>
            <a:endParaRPr sz="2200"/>
          </a:p>
          <a:p>
            <a:pPr indent="-368300" lvl="0" marL="457200" rtl="0" algn="l">
              <a:spcBef>
                <a:spcPts val="0"/>
              </a:spcBef>
              <a:spcAft>
                <a:spcPts val="0"/>
              </a:spcAft>
              <a:buSzPts val="2200"/>
              <a:buChar char="●"/>
            </a:pPr>
            <a:r>
              <a:rPr lang="en" sz="2200"/>
              <a:t>What patterns appear in wait times, onboarding delays, and dropout rates?</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 sz="2200"/>
              <a:t>How can Excelerate use these insights to fix bottlenecks and boost retention?</a:t>
            </a:r>
            <a:endParaRPr sz="2200"/>
          </a:p>
          <a:p>
            <a:pPr indent="0" lvl="0" marL="0" rtl="0" algn="l">
              <a:lnSpc>
                <a:spcPct val="115000"/>
              </a:lnSpc>
              <a:spcBef>
                <a:spcPts val="1200"/>
              </a:spcBef>
              <a:spcAft>
                <a:spcPts val="0"/>
              </a:spcAft>
              <a:buNone/>
            </a:pPr>
            <a:r>
              <a:t/>
            </a:r>
            <a:endParaRPr sz="2400">
              <a:latin typeface="Times New Roman"/>
              <a:ea typeface="Times New Roman"/>
              <a:cs typeface="Times New Roman"/>
              <a:sym typeface="Times New Roman"/>
            </a:endParaRPr>
          </a:p>
          <a:p>
            <a:pPr indent="0" lvl="0" marL="457200" rtl="0" algn="just">
              <a:spcBef>
                <a:spcPts val="1200"/>
              </a:spcBef>
              <a:spcAft>
                <a:spcPts val="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nvSpPr>
        <p:spPr>
          <a:xfrm>
            <a:off x="449800" y="1058275"/>
            <a:ext cx="3936900" cy="366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8,558 people applied, so our marketing works.</a:t>
            </a:r>
            <a:endParaRPr sz="1800"/>
          </a:p>
          <a:p>
            <a:pPr indent="0" lvl="0" marL="13716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Nearly half of them never even start.</a:t>
            </a:r>
            <a:endParaRPr sz="1800"/>
          </a:p>
          <a:p>
            <a:pPr indent="0" lvl="0" marL="13716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Only 29 students finished, which means something is blocking them.</a:t>
            </a:r>
            <a:endParaRPr sz="1800"/>
          </a:p>
          <a:p>
            <a:pPr indent="0" lvl="0" marL="13716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We don't need more applicants; we need to fix the path for the ones we have.</a:t>
            </a:r>
            <a:endParaRPr sz="1800"/>
          </a:p>
          <a:p>
            <a:pPr indent="0" lvl="0" marL="1371600" rtl="0" algn="l">
              <a:spcBef>
                <a:spcPts val="0"/>
              </a:spcBef>
              <a:spcAft>
                <a:spcPts val="0"/>
              </a:spcAft>
              <a:buNone/>
            </a:pPr>
            <a:r>
              <a:t/>
            </a:r>
            <a:endParaRPr sz="1800">
              <a:latin typeface="Times New Roman"/>
              <a:ea typeface="Times New Roman"/>
              <a:cs typeface="Times New Roman"/>
              <a:sym typeface="Times New Roman"/>
            </a:endParaRPr>
          </a:p>
        </p:txBody>
      </p:sp>
      <p:sp>
        <p:nvSpPr>
          <p:cNvPr id="186" name="Google Shape;186;p27"/>
          <p:cNvSpPr txBox="1"/>
          <p:nvPr/>
        </p:nvSpPr>
        <p:spPr>
          <a:xfrm>
            <a:off x="341250" y="328075"/>
            <a:ext cx="8461500" cy="7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Times New Roman"/>
                <a:ea typeface="Times New Roman"/>
                <a:cs typeface="Times New Roman"/>
                <a:sym typeface="Times New Roman"/>
              </a:rPr>
              <a:t>8,500+ Applicants, But Very Few Finishes</a:t>
            </a:r>
            <a:endParaRPr b="1" sz="3600">
              <a:latin typeface="Times New Roman"/>
              <a:ea typeface="Times New Roman"/>
              <a:cs typeface="Times New Roman"/>
              <a:sym typeface="Times New Roman"/>
            </a:endParaRPr>
          </a:p>
        </p:txBody>
      </p:sp>
      <p:pic>
        <p:nvPicPr>
          <p:cNvPr id="187" name="Google Shape;187;p27" title="image_2026-01-05_200037186.png"/>
          <p:cNvPicPr preferRelativeResize="0"/>
          <p:nvPr/>
        </p:nvPicPr>
        <p:blipFill>
          <a:blip r:embed="rId3">
            <a:alphaModFix/>
          </a:blip>
          <a:stretch>
            <a:fillRect/>
          </a:stretch>
        </p:blipFill>
        <p:spPr>
          <a:xfrm>
            <a:off x="4539100" y="1210675"/>
            <a:ext cx="4366425" cy="2576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nvSpPr>
        <p:spPr>
          <a:xfrm>
            <a:off x="481500" y="1155925"/>
            <a:ext cx="4090500" cy="366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3,276 learners are "Allocated" to a team, but only 767 actually "Started".</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b="1" lang="en" sz="1800"/>
              <a:t>80%</a:t>
            </a:r>
            <a:r>
              <a:rPr lang="en" sz="1800"/>
              <a:t> of our "Active" users are just waiting to be onboarded.</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These people didn't quit; our process stalled them.</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We need to move people from "Allocated" to "Started" much faster.</a:t>
            </a:r>
            <a:endParaRPr sz="1800">
              <a:latin typeface="Times New Roman"/>
              <a:ea typeface="Times New Roman"/>
              <a:cs typeface="Times New Roman"/>
              <a:sym typeface="Times New Roman"/>
            </a:endParaRPr>
          </a:p>
        </p:txBody>
      </p:sp>
      <p:sp>
        <p:nvSpPr>
          <p:cNvPr id="193" name="Google Shape;193;p28"/>
          <p:cNvSpPr txBox="1"/>
          <p:nvPr/>
        </p:nvSpPr>
        <p:spPr>
          <a:xfrm>
            <a:off x="341250" y="328075"/>
            <a:ext cx="8461500" cy="7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latin typeface="Times New Roman"/>
                <a:ea typeface="Times New Roman"/>
                <a:cs typeface="Times New Roman"/>
                <a:sym typeface="Times New Roman"/>
              </a:rPr>
              <a:t>A lot of Learners Are Stuck Waiting for Teams</a:t>
            </a:r>
            <a:endParaRPr b="1" sz="3200">
              <a:latin typeface="Times New Roman"/>
              <a:ea typeface="Times New Roman"/>
              <a:cs typeface="Times New Roman"/>
              <a:sym typeface="Times New Roman"/>
            </a:endParaRPr>
          </a:p>
        </p:txBody>
      </p:sp>
      <p:pic>
        <p:nvPicPr>
          <p:cNvPr id="194" name="Google Shape;194;p28" title="horizonatl_bar_chart.PNG"/>
          <p:cNvPicPr preferRelativeResize="0"/>
          <p:nvPr/>
        </p:nvPicPr>
        <p:blipFill>
          <a:blip r:embed="rId3">
            <a:alphaModFix/>
          </a:blip>
          <a:stretch>
            <a:fillRect/>
          </a:stretch>
        </p:blipFill>
        <p:spPr>
          <a:xfrm>
            <a:off x="4724400" y="1210675"/>
            <a:ext cx="4181124" cy="25719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nvSpPr>
        <p:spPr>
          <a:xfrm>
            <a:off x="465675" y="1140700"/>
            <a:ext cx="3936900" cy="366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"Internships" have the most people, but </a:t>
            </a:r>
            <a:r>
              <a:rPr b="1" lang="en" sz="1800"/>
              <a:t>78%</a:t>
            </a:r>
            <a:r>
              <a:rPr lang="en" sz="1800"/>
              <a:t> don't engage at all.</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"Courses" have fewer people, but they stay active and finish.</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People clearly prefer the "Course" structure.</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We are spending money on Internships, but Courses give better results.</a:t>
            </a:r>
            <a:endParaRPr b="1" sz="1800"/>
          </a:p>
        </p:txBody>
      </p:sp>
      <p:sp>
        <p:nvSpPr>
          <p:cNvPr id="200" name="Google Shape;200;p29"/>
          <p:cNvSpPr txBox="1"/>
          <p:nvPr/>
        </p:nvSpPr>
        <p:spPr>
          <a:xfrm>
            <a:off x="341250" y="328075"/>
            <a:ext cx="8461500" cy="7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200">
                <a:latin typeface="Times New Roman"/>
                <a:ea typeface="Times New Roman"/>
                <a:cs typeface="Times New Roman"/>
                <a:sym typeface="Times New Roman"/>
              </a:rPr>
              <a:t>"Courses" Work Well; "Internships" Do Not</a:t>
            </a:r>
            <a:endParaRPr b="1" sz="3200">
              <a:latin typeface="Times New Roman"/>
              <a:ea typeface="Times New Roman"/>
              <a:cs typeface="Times New Roman"/>
              <a:sym typeface="Times New Roman"/>
            </a:endParaRPr>
          </a:p>
        </p:txBody>
      </p:sp>
      <p:pic>
        <p:nvPicPr>
          <p:cNvPr id="201" name="Google Shape;201;p29" title="heatmap.PNG"/>
          <p:cNvPicPr preferRelativeResize="0"/>
          <p:nvPr/>
        </p:nvPicPr>
        <p:blipFill>
          <a:blip r:embed="rId3">
            <a:alphaModFix/>
          </a:blip>
          <a:stretch>
            <a:fillRect/>
          </a:stretch>
        </p:blipFill>
        <p:spPr>
          <a:xfrm>
            <a:off x="4554975" y="1210675"/>
            <a:ext cx="4350551" cy="2618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nvSpPr>
        <p:spPr>
          <a:xfrm>
            <a:off x="263675" y="1058275"/>
            <a:ext cx="3936900" cy="366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The time between applying and starting is the biggest predictor of success.</a:t>
            </a:r>
            <a:br>
              <a:rPr lang="en" sz="1800"/>
            </a:br>
            <a:endParaRPr sz="1800"/>
          </a:p>
          <a:p>
            <a:pPr indent="-342900" lvl="0" marL="457200" rtl="0" algn="l">
              <a:spcBef>
                <a:spcPts val="0"/>
              </a:spcBef>
              <a:spcAft>
                <a:spcPts val="0"/>
              </a:spcAft>
              <a:buSzPts val="1800"/>
              <a:buChar char="●"/>
            </a:pPr>
            <a:r>
              <a:rPr lang="en" sz="1800"/>
              <a:t>The longer a student waits, the less likely they are to finish.</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Applicants waiting </a:t>
            </a:r>
            <a:r>
              <a:rPr b="1" lang="en" sz="1800"/>
              <a:t>300+ days</a:t>
            </a:r>
            <a:r>
              <a:rPr lang="en" sz="1800"/>
              <a:t> almost never finish.</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Speed matters. Long wait times kill motivation.</a:t>
            </a:r>
            <a:endParaRPr b="1" sz="1800">
              <a:latin typeface="Times New Roman"/>
              <a:ea typeface="Times New Roman"/>
              <a:cs typeface="Times New Roman"/>
              <a:sym typeface="Times New Roman"/>
            </a:endParaRPr>
          </a:p>
        </p:txBody>
      </p:sp>
      <p:sp>
        <p:nvSpPr>
          <p:cNvPr id="207" name="Google Shape;207;p30"/>
          <p:cNvSpPr txBox="1"/>
          <p:nvPr/>
        </p:nvSpPr>
        <p:spPr>
          <a:xfrm>
            <a:off x="341250" y="328075"/>
            <a:ext cx="8461500" cy="7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400">
                <a:latin typeface="Times New Roman"/>
                <a:ea typeface="Times New Roman"/>
                <a:cs typeface="Times New Roman"/>
                <a:sym typeface="Times New Roman"/>
              </a:rPr>
              <a:t>Waiting Time is the #1 Reason Learners Fail</a:t>
            </a:r>
            <a:endParaRPr b="1" sz="3400">
              <a:latin typeface="Times New Roman"/>
              <a:ea typeface="Times New Roman"/>
              <a:cs typeface="Times New Roman"/>
              <a:sym typeface="Times New Roman"/>
            </a:endParaRPr>
          </a:p>
        </p:txBody>
      </p:sp>
      <p:pic>
        <p:nvPicPr>
          <p:cNvPr id="208" name="Google Shape;208;p30" title="scatter_plot.PNG"/>
          <p:cNvPicPr preferRelativeResize="0"/>
          <p:nvPr/>
        </p:nvPicPr>
        <p:blipFill>
          <a:blip r:embed="rId3">
            <a:alphaModFix/>
          </a:blip>
          <a:stretch>
            <a:fillRect/>
          </a:stretch>
        </p:blipFill>
        <p:spPr>
          <a:xfrm>
            <a:off x="4352975" y="1210675"/>
            <a:ext cx="4571050" cy="2594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nvSpPr>
        <p:spPr>
          <a:xfrm>
            <a:off x="687925" y="474875"/>
            <a:ext cx="7890000" cy="3996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rPr b="1" lang="en" sz="4000">
                <a:latin typeface="Times New Roman"/>
                <a:ea typeface="Times New Roman"/>
                <a:cs typeface="Times New Roman"/>
                <a:sym typeface="Times New Roman"/>
              </a:rPr>
              <a:t>Conclusion:</a:t>
            </a:r>
            <a:endParaRPr b="1" sz="4000">
              <a:latin typeface="Times New Roman"/>
              <a:ea typeface="Times New Roman"/>
              <a:cs typeface="Times New Roman"/>
              <a:sym typeface="Times New Roman"/>
            </a:endParaRPr>
          </a:p>
          <a:p>
            <a:pPr indent="-355600" lvl="0" marL="457200" rtl="0" algn="just">
              <a:lnSpc>
                <a:spcPct val="150000"/>
              </a:lnSpc>
              <a:spcBef>
                <a:spcPts val="1200"/>
              </a:spcBef>
              <a:spcAft>
                <a:spcPts val="0"/>
              </a:spcAft>
              <a:buSzPts val="2000"/>
              <a:buChar char="●"/>
            </a:pPr>
            <a:r>
              <a:rPr b="1" lang="en" sz="2000"/>
              <a:t>Recruiting is Good:</a:t>
            </a:r>
            <a:r>
              <a:rPr lang="en" sz="2000"/>
              <a:t> We know how to get applicants.</a:t>
            </a:r>
            <a:endParaRPr sz="2000"/>
          </a:p>
          <a:p>
            <a:pPr indent="-355600" lvl="0" marL="457200" rtl="0" algn="just">
              <a:lnSpc>
                <a:spcPct val="150000"/>
              </a:lnSpc>
              <a:spcBef>
                <a:spcPts val="0"/>
              </a:spcBef>
              <a:spcAft>
                <a:spcPts val="0"/>
              </a:spcAft>
              <a:buSzPts val="2000"/>
              <a:buChar char="●"/>
            </a:pPr>
            <a:r>
              <a:rPr b="1" lang="en" sz="2000"/>
              <a:t>Onboarding is Broken:</a:t>
            </a:r>
            <a:r>
              <a:rPr lang="en" sz="2000"/>
              <a:t> Most learners fail because they wait too long to start.</a:t>
            </a:r>
            <a:endParaRPr sz="2000"/>
          </a:p>
          <a:p>
            <a:pPr indent="-355600" lvl="0" marL="457200" rtl="0" algn="just">
              <a:lnSpc>
                <a:spcPct val="150000"/>
              </a:lnSpc>
              <a:spcBef>
                <a:spcPts val="0"/>
              </a:spcBef>
              <a:spcAft>
                <a:spcPts val="0"/>
              </a:spcAft>
              <a:buSzPts val="2000"/>
              <a:buChar char="●"/>
            </a:pPr>
            <a:r>
              <a:rPr b="1" lang="en" sz="2000"/>
              <a:t>Activity is Key:</a:t>
            </a:r>
            <a:r>
              <a:rPr lang="en" sz="2000"/>
              <a:t> If they start quickly, they are more likely to finish.</a:t>
            </a:r>
            <a:endParaRPr sz="2000"/>
          </a:p>
          <a:p>
            <a:pPr indent="-355600" lvl="0" marL="457200" rtl="0" algn="just">
              <a:lnSpc>
                <a:spcPct val="150000"/>
              </a:lnSpc>
              <a:spcBef>
                <a:spcPts val="0"/>
              </a:spcBef>
              <a:spcAft>
                <a:spcPts val="0"/>
              </a:spcAft>
              <a:buSzPts val="2000"/>
              <a:buChar char="●"/>
            </a:pPr>
            <a:r>
              <a:rPr b="1" lang="en" sz="2000"/>
              <a:t>The Fix:</a:t>
            </a:r>
            <a:r>
              <a:rPr lang="en" sz="2000"/>
              <a:t> We must focus on starting learners faster, not just getting more applications.</a:t>
            </a:r>
            <a:endParaRPr b="1"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nvSpPr>
        <p:spPr>
          <a:xfrm>
            <a:off x="627000" y="343950"/>
            <a:ext cx="7890000" cy="3429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rPr b="1" lang="en" sz="4000">
                <a:latin typeface="Times New Roman"/>
                <a:ea typeface="Times New Roman"/>
                <a:cs typeface="Times New Roman"/>
                <a:sym typeface="Times New Roman"/>
              </a:rPr>
              <a:t>Recommendations</a:t>
            </a:r>
            <a:r>
              <a:rPr b="1" lang="en" sz="4000">
                <a:latin typeface="Times New Roman"/>
                <a:ea typeface="Times New Roman"/>
                <a:cs typeface="Times New Roman"/>
                <a:sym typeface="Times New Roman"/>
              </a:rPr>
              <a:t>:</a:t>
            </a:r>
            <a:endParaRPr b="1" sz="4000">
              <a:latin typeface="Times New Roman"/>
              <a:ea typeface="Times New Roman"/>
              <a:cs typeface="Times New Roman"/>
              <a:sym typeface="Times New Roman"/>
            </a:endParaRPr>
          </a:p>
          <a:p>
            <a:pPr indent="-355600" lvl="0" marL="457200" rtl="0" algn="just">
              <a:lnSpc>
                <a:spcPct val="150000"/>
              </a:lnSpc>
              <a:spcBef>
                <a:spcPts val="1200"/>
              </a:spcBef>
              <a:spcAft>
                <a:spcPts val="0"/>
              </a:spcAft>
              <a:buSzPts val="2000"/>
              <a:buChar char="●"/>
            </a:pPr>
            <a:r>
              <a:rPr b="1" lang="en" sz="2000"/>
              <a:t>Fix the Wait:</a:t>
            </a:r>
            <a:r>
              <a:rPr lang="en" sz="2000"/>
              <a:t> Check the 3,276 stuck students and automate their start process.</a:t>
            </a:r>
            <a:endParaRPr sz="2000"/>
          </a:p>
          <a:p>
            <a:pPr indent="-355600" lvl="0" marL="457200" rtl="0" algn="just">
              <a:lnSpc>
                <a:spcPct val="150000"/>
              </a:lnSpc>
              <a:spcBef>
                <a:spcPts val="0"/>
              </a:spcBef>
              <a:spcAft>
                <a:spcPts val="0"/>
              </a:spcAft>
              <a:buSzPts val="2000"/>
              <a:buChar char="●"/>
            </a:pPr>
            <a:r>
              <a:rPr b="1" lang="en" sz="2000"/>
              <a:t>Start Day 1:</a:t>
            </a:r>
            <a:r>
              <a:rPr lang="en" sz="2000"/>
              <a:t> Start new learners immediately so they don't lose interest.</a:t>
            </a:r>
            <a:endParaRPr sz="2000"/>
          </a:p>
          <a:p>
            <a:pPr indent="-355600" lvl="0" marL="457200" rtl="0" algn="just">
              <a:lnSpc>
                <a:spcPct val="150000"/>
              </a:lnSpc>
              <a:spcBef>
                <a:spcPts val="0"/>
              </a:spcBef>
              <a:spcAft>
                <a:spcPts val="0"/>
              </a:spcAft>
              <a:buSzPts val="2000"/>
              <a:buChar char="●"/>
            </a:pPr>
            <a:r>
              <a:rPr b="1" lang="en" sz="2000"/>
              <a:t>Shift Focus:</a:t>
            </a:r>
            <a:r>
              <a:rPr lang="en" sz="2000"/>
              <a:t> Move our budget from Internships to the successful "Course" tracks.</a:t>
            </a:r>
            <a:endParaRPr sz="2000"/>
          </a:p>
          <a:p>
            <a:pPr indent="-355600" lvl="0" marL="457200" rtl="0" algn="just">
              <a:lnSpc>
                <a:spcPct val="150000"/>
              </a:lnSpc>
              <a:spcBef>
                <a:spcPts val="0"/>
              </a:spcBef>
              <a:spcAft>
                <a:spcPts val="0"/>
              </a:spcAft>
              <a:buSzPts val="2000"/>
              <a:buChar char="●"/>
            </a:pPr>
            <a:r>
              <a:rPr b="1" lang="en" sz="2000"/>
              <a:t>Be Honest:</a:t>
            </a:r>
            <a:r>
              <a:rPr lang="en" sz="2000"/>
              <a:t> Stop calling waiting users "Active" so we see the real picture.</a:t>
            </a:r>
            <a:endParaRPr sz="2000"/>
          </a:p>
          <a:p>
            <a:pPr indent="0" lvl="0" marL="0" rtl="0" algn="just">
              <a:lnSpc>
                <a:spcPct val="150000"/>
              </a:lnSpc>
              <a:spcBef>
                <a:spcPts val="1200"/>
              </a:spcBef>
              <a:spcAft>
                <a:spcPts val="1200"/>
              </a:spcAft>
              <a:buNone/>
            </a:pPr>
            <a:r>
              <a:t/>
            </a:r>
            <a:endParaRPr b="1" sz="22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nvSpPr>
        <p:spPr>
          <a:xfrm>
            <a:off x="627000" y="343950"/>
            <a:ext cx="7890000" cy="4497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rPr b="1" lang="en" sz="4000">
                <a:latin typeface="Times New Roman"/>
                <a:ea typeface="Times New Roman"/>
                <a:cs typeface="Times New Roman"/>
                <a:sym typeface="Times New Roman"/>
              </a:rPr>
              <a:t>Team 4 Members</a:t>
            </a:r>
            <a:r>
              <a:rPr b="1" lang="en" sz="4000">
                <a:latin typeface="Times New Roman"/>
                <a:ea typeface="Times New Roman"/>
                <a:cs typeface="Times New Roman"/>
                <a:sym typeface="Times New Roman"/>
              </a:rPr>
              <a:t>:</a:t>
            </a:r>
            <a:endParaRPr b="1" sz="4000">
              <a:latin typeface="Times New Roman"/>
              <a:ea typeface="Times New Roman"/>
              <a:cs typeface="Times New Roman"/>
              <a:sym typeface="Times New Roman"/>
            </a:endParaRPr>
          </a:p>
          <a:p>
            <a:pPr indent="-355600" lvl="0" marL="457200" rtl="0" algn="just">
              <a:lnSpc>
                <a:spcPct val="150000"/>
              </a:lnSpc>
              <a:spcBef>
                <a:spcPts val="1200"/>
              </a:spcBef>
              <a:spcAft>
                <a:spcPts val="0"/>
              </a:spcAft>
              <a:buSzPts val="2000"/>
              <a:buFont typeface="Times New Roman"/>
              <a:buChar char="●"/>
            </a:pPr>
            <a:r>
              <a:rPr lang="en" sz="2000">
                <a:latin typeface="Times New Roman"/>
                <a:ea typeface="Times New Roman"/>
                <a:cs typeface="Times New Roman"/>
                <a:sym typeface="Times New Roman"/>
              </a:rPr>
              <a:t>Mulhuri Mugwambana </a:t>
            </a:r>
            <a:r>
              <a:rPr b="1" lang="en" sz="2000">
                <a:latin typeface="Times New Roman"/>
                <a:ea typeface="Times New Roman"/>
                <a:cs typeface="Times New Roman"/>
                <a:sym typeface="Times New Roman"/>
              </a:rPr>
              <a:t>(Team Lead)</a:t>
            </a:r>
            <a:endParaRPr b="1"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Hamza Jawad </a:t>
            </a:r>
            <a:r>
              <a:rPr b="1" lang="en" sz="2000">
                <a:latin typeface="Times New Roman"/>
                <a:ea typeface="Times New Roman"/>
                <a:cs typeface="Times New Roman"/>
                <a:sym typeface="Times New Roman"/>
              </a:rPr>
              <a:t>(Project Lead)</a:t>
            </a:r>
            <a:endParaRPr b="1"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Sifat Ishmam Parisa</a:t>
            </a:r>
            <a:endParaRPr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Israel Dapo Olasinde</a:t>
            </a:r>
            <a:endParaRPr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Kimanzi Jacob Mutie</a:t>
            </a:r>
            <a:endParaRPr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Arimadu Chisom Precious</a:t>
            </a:r>
            <a:endParaRPr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Oyeniran Micheal</a:t>
            </a:r>
            <a:endParaRPr sz="2000">
              <a:latin typeface="Times New Roman"/>
              <a:ea typeface="Times New Roman"/>
              <a:cs typeface="Times New Roman"/>
              <a:sym typeface="Times New Roman"/>
            </a:endParaRPr>
          </a:p>
          <a:p>
            <a:pPr indent="-355600" lvl="0" marL="457200" rtl="0" algn="just">
              <a:lnSpc>
                <a:spcPct val="150000"/>
              </a:lnSpc>
              <a:spcBef>
                <a:spcPts val="0"/>
              </a:spcBef>
              <a:spcAft>
                <a:spcPts val="0"/>
              </a:spcAft>
              <a:buSzPts val="2000"/>
              <a:buFont typeface="Times New Roman"/>
              <a:buChar char="●"/>
            </a:pPr>
            <a:r>
              <a:rPr lang="en" sz="2000">
                <a:latin typeface="Times New Roman"/>
                <a:ea typeface="Times New Roman"/>
                <a:cs typeface="Times New Roman"/>
                <a:sym typeface="Times New Roman"/>
              </a:rPr>
              <a:t>Omoosumi Rilwan</a:t>
            </a: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29" name="Google Shape;229;p3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Group of young people holding placard saying thank you. Thanking doctors and police. Thankful men and pleased women. Gratitude poster. Appreciation to emergency workers. Vector concept (Provided by Getty Images)" id="230" name="Google Shape;230;p34"/>
          <p:cNvPicPr preferRelativeResize="0"/>
          <p:nvPr/>
        </p:nvPicPr>
        <p:blipFill>
          <a:blip r:embed="rId3">
            <a:alphaModFix/>
          </a:blip>
          <a:stretch>
            <a:fillRect/>
          </a:stretch>
        </p:blipFill>
        <p:spPr>
          <a:xfrm>
            <a:off x="268625" y="290550"/>
            <a:ext cx="8650598" cy="4637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